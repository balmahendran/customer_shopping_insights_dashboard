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SemiBold"/>
      <p:regular r:id="rId201314"/>
    </p:embeddedFont>
    <p:embeddedFont>
      <p:font typeface="Raleway Bold"/>
      <p:regular r:id="rId201315"/>
    </p:embeddedFont>
    <p:embeddedFont>
      <p:font typeface="Raleway Black"/>
      <p:regular r:id="rId201316"/>
    </p:embeddedFont>
    <p:embeddedFont>
      <p:font typeface="Raleway"/>
      <p:regular r:id="rId201317"/>
    </p:embeddedFont>
    <p:embeddedFont>
      <p:font typeface="Roboto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2.png"/><Relationship Id="rId9" Type="http://schemas.openxmlformats.org/officeDocument/2006/relationships/image" Target="../media/image-5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5-6.png"/><Relationship Id="rId3" Type="http://schemas.openxmlformats.org/officeDocument/2006/relationships/image" Target="../media/image-5-7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6.png"/><Relationship Id="rId5" Type="http://schemas.openxmlformats.org/officeDocument/2006/relationships/image" Target="../media/image-5-7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9552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Shopping Insights Dashboard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76029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Problem Analysis &amp; SQL Solutions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275336"/>
            <a:ext cx="823892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46765" y="4331990"/>
            <a:ext cx="120666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151706" y="4275336"/>
            <a:ext cx="1081953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5110" y="4331990"/>
            <a:ext cx="146473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SERVER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28114" y="4275336"/>
            <a:ext cx="91189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41518" y="4331990"/>
            <a:ext cx="129467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BI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334464" y="4275336"/>
            <a:ext cx="1633298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47868" y="4331990"/>
            <a:ext cx="201607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UAE DIRHAMS (AED)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40159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Problem Statement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5233360" y="1323677"/>
            <a:ext cx="6296860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can the company leverage consumer shopping data to identify trends, improve customer engagement, and optimize marketing and product strategies?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233360" y="1927225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55" y="1981002"/>
            <a:ext cx="581516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Discounts &amp; Promotions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15055" y="2303264"/>
            <a:ext cx="581516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discount offers meaningfully drive purchase volume and customer retention?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33360" y="2791420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55" y="2845197"/>
            <a:ext cx="581516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Reviews &amp; Ratings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715055" y="3167459"/>
            <a:ext cx="581516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do customer reviews influence purchasing decisions and product performance?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33360" y="3884513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55" y="3938290"/>
            <a:ext cx="581516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Seasonal Trends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715055" y="4260552"/>
            <a:ext cx="581516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seasons drive the highest sales and how should inventory be aligned?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33360" y="4748709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55" y="4802485"/>
            <a:ext cx="581516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Payment Preferences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715055" y="5124748"/>
            <a:ext cx="581516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payment methods do customers prefer and how does this affect conversion?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233360" y="5612904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15055" y="5666680"/>
            <a:ext cx="581516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Repeat Purchases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715055" y="5988943"/>
            <a:ext cx="581516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behavioral patterns distinguish loyal repeat buyers from one-time customers?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6461"/>
            <a:ext cx="399544" cy="110728"/>
          </a:xfrm>
          <a:prstGeom prst="roundRect">
            <a:avLst>
              <a:gd name="adj" fmla="val 22136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05229" y="598289"/>
            <a:ext cx="921620" cy="67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1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661475" y="698401"/>
            <a:ext cx="10868745" cy="227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Segmentation &amp; Loyalty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1475" y="968474"/>
            <a:ext cx="10868745" cy="170458"/>
          </a:xfrm>
          <a:prstGeom prst="roundRect">
            <a:avLst>
              <a:gd name="adj" fmla="val 17974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399" y="1014710"/>
            <a:ext cx="91180" cy="729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8503" y="1014710"/>
            <a:ext cx="11168378" cy="80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Business Question:</a:t>
            </a:r>
            <a:pPr algn="l" indent="0" marL="0">
              <a:lnSpc>
                <a:spcPct val="92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Which customer segments drive the most revenue and how can we improve loyalty?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661475" y="1198662"/>
            <a:ext cx="5345376" cy="113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by Customer Segment</a:t>
            </a:r>
            <a:endParaRPr lang="en-US" sz="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344216"/>
            <a:ext cx="3474454" cy="25009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91194" y="1198662"/>
            <a:ext cx="5345376" cy="113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Findings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8415226" y="1818283"/>
            <a:ext cx="897113" cy="182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79.9%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804" y="1362373"/>
            <a:ext cx="1094157" cy="1094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91194" y="2502793"/>
            <a:ext cx="5345376" cy="113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Loyal Customers</a:t>
            </a:r>
            <a:endParaRPr lang="en-US" sz="700" dirty="0"/>
          </a:p>
        </p:txBody>
      </p:sp>
      <p:sp>
        <p:nvSpPr>
          <p:cNvPr id="14" name="Text 9"/>
          <p:cNvSpPr/>
          <p:nvPr/>
        </p:nvSpPr>
        <p:spPr>
          <a:xfrm>
            <a:off x="6191194" y="2644775"/>
            <a:ext cx="5345376" cy="80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Drive the majority of total revenue — highest priority segment for retention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8415226" y="3255863"/>
            <a:ext cx="897113" cy="182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18%</a:t>
            </a:r>
            <a:endParaRPr lang="en-US" sz="1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6804" y="2799953"/>
            <a:ext cx="1094157" cy="1094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1194" y="3940373"/>
            <a:ext cx="5345376" cy="113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Returning Customers</a:t>
            </a:r>
            <a:endParaRPr lang="en-US" sz="700" dirty="0"/>
          </a:p>
        </p:txBody>
      </p:sp>
      <p:sp>
        <p:nvSpPr>
          <p:cNvPr id="18" name="Text 12"/>
          <p:cNvSpPr/>
          <p:nvPr/>
        </p:nvSpPr>
        <p:spPr>
          <a:xfrm>
            <a:off x="6191194" y="4082355"/>
            <a:ext cx="5345376" cy="80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Moderate engagement — strong conversion opportunity with targeted offers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8415226" y="4693444"/>
            <a:ext cx="897113" cy="182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2.1%</a:t>
            </a:r>
            <a:endParaRPr lang="en-US" sz="14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804" y="4237534"/>
            <a:ext cx="1094157" cy="1094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191194" y="5377954"/>
            <a:ext cx="5345376" cy="113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New Customers</a:t>
            </a:r>
            <a:endParaRPr lang="en-US" sz="700" dirty="0"/>
          </a:p>
        </p:txBody>
      </p:sp>
      <p:sp>
        <p:nvSpPr>
          <p:cNvPr id="22" name="Text 15"/>
          <p:cNvSpPr/>
          <p:nvPr/>
        </p:nvSpPr>
        <p:spPr>
          <a:xfrm>
            <a:off x="6191194" y="5519936"/>
            <a:ext cx="5345376" cy="80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 but critical for growth — need onboarding and incentive strategies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61475" y="5674519"/>
            <a:ext cx="10868745" cy="113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Loyalty Improvement Recommendations</a:t>
            </a:r>
            <a:endParaRPr lang="en-US" sz="700" dirty="0"/>
          </a:p>
        </p:txBody>
      </p:sp>
      <p:sp>
        <p:nvSpPr>
          <p:cNvPr id="24" name="Shape 17"/>
          <p:cNvSpPr/>
          <p:nvPr/>
        </p:nvSpPr>
        <p:spPr>
          <a:xfrm>
            <a:off x="661475" y="5830590"/>
            <a:ext cx="3604130" cy="450850"/>
          </a:xfrm>
          <a:prstGeom prst="roundRect">
            <a:avLst>
              <a:gd name="adj" fmla="val 6796"/>
            </a:avLst>
          </a:prstGeom>
          <a:solidFill>
            <a:srgbClr val="FFFFFF">
              <a:alpha val="95000"/>
            </a:srgbClr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40749" y="5909866"/>
            <a:ext cx="3445583" cy="113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Retain Loyal Customers</a:t>
            </a:r>
            <a:endParaRPr lang="en-US" sz="700" dirty="0"/>
          </a:p>
        </p:txBody>
      </p:sp>
      <p:sp>
        <p:nvSpPr>
          <p:cNvPr id="26" name="Text 19"/>
          <p:cNvSpPr/>
          <p:nvPr/>
        </p:nvSpPr>
        <p:spPr>
          <a:xfrm>
            <a:off x="740749" y="6040636"/>
            <a:ext cx="3445583" cy="161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a tiered rewards program with exclusive perks, early access, and personalized offers for high-frequency buyers.</a:t>
            </a:r>
            <a:endParaRPr lang="en-US" sz="550" dirty="0"/>
          </a:p>
        </p:txBody>
      </p:sp>
      <p:sp>
        <p:nvSpPr>
          <p:cNvPr id="27" name="Shape 20"/>
          <p:cNvSpPr/>
          <p:nvPr/>
        </p:nvSpPr>
        <p:spPr>
          <a:xfrm>
            <a:off x="4293683" y="5830590"/>
            <a:ext cx="3604229" cy="450850"/>
          </a:xfrm>
          <a:prstGeom prst="roundRect">
            <a:avLst>
              <a:gd name="adj" fmla="val 6796"/>
            </a:avLst>
          </a:prstGeom>
          <a:solidFill>
            <a:srgbClr val="FFFFFF">
              <a:alpha val="95000"/>
            </a:srgbClr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372957" y="5909866"/>
            <a:ext cx="3445682" cy="113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Convert Returning Customers</a:t>
            </a:r>
            <a:endParaRPr lang="en-US" sz="700" dirty="0"/>
          </a:p>
        </p:txBody>
      </p:sp>
      <p:sp>
        <p:nvSpPr>
          <p:cNvPr id="29" name="Text 22"/>
          <p:cNvSpPr/>
          <p:nvPr/>
        </p:nvSpPr>
        <p:spPr>
          <a:xfrm>
            <a:off x="4372957" y="6040636"/>
            <a:ext cx="3445682" cy="161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targeted email campaigns and limited-time promotions to nudge returning buyers toward loyalty tier thresholds.</a:t>
            </a:r>
            <a:endParaRPr lang="en-US" sz="550" dirty="0"/>
          </a:p>
        </p:txBody>
      </p:sp>
      <p:sp>
        <p:nvSpPr>
          <p:cNvPr id="30" name="Shape 23"/>
          <p:cNvSpPr/>
          <p:nvPr/>
        </p:nvSpPr>
        <p:spPr>
          <a:xfrm>
            <a:off x="7925991" y="5830590"/>
            <a:ext cx="3604229" cy="450850"/>
          </a:xfrm>
          <a:prstGeom prst="roundRect">
            <a:avLst>
              <a:gd name="adj" fmla="val 6796"/>
            </a:avLst>
          </a:prstGeom>
          <a:solidFill>
            <a:srgbClr val="FFFFFF">
              <a:alpha val="95000"/>
            </a:srgbClr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005265" y="5909866"/>
            <a:ext cx="3445682" cy="113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Onboard New Customers</a:t>
            </a:r>
            <a:endParaRPr lang="en-US" sz="700" dirty="0"/>
          </a:p>
        </p:txBody>
      </p:sp>
      <p:sp>
        <p:nvSpPr>
          <p:cNvPr id="32" name="Text 25"/>
          <p:cNvSpPr/>
          <p:nvPr/>
        </p:nvSpPr>
        <p:spPr>
          <a:xfrm>
            <a:off x="8005265" y="6040636"/>
            <a:ext cx="3445682" cy="161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welcome discounts and guided onboarding flows to increase first-repeat purchase rates and reduce churn.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6163"/>
            <a:ext cx="472964" cy="131266"/>
          </a:xfrm>
          <a:prstGeom prst="roundRect">
            <a:avLst>
              <a:gd name="adj" fmla="val 2211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13266" y="602059"/>
            <a:ext cx="978967" cy="79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2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61475" y="723205"/>
            <a:ext cx="10868745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Gender-Based Revenue Disparity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61475" y="1052314"/>
            <a:ext cx="10868745" cy="218678"/>
          </a:xfrm>
          <a:prstGeom prst="roundRect">
            <a:avLst>
              <a:gd name="adj" fmla="val 16592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793" y="1113234"/>
            <a:ext cx="107947" cy="8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2058" y="1113234"/>
            <a:ext cx="11111428" cy="100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Business Question:</a:t>
            </a:r>
            <a:pPr algn="l" indent="0" marL="0">
              <a:lnSpc>
                <a:spcPct val="97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Why is there a significant revenue gap between male and female customers, and how can we engage female customers?</a:t>
            </a:r>
            <a:endParaRPr lang="en-US" sz="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359694"/>
            <a:ext cx="3103683" cy="2355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6682" y="3759994"/>
            <a:ext cx="5384566" cy="80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Revenue: </a:t>
            </a:r>
            <a:pPr algn="ctr" indent="0" marL="0">
              <a:lnSpc>
                <a:spcPct val="97000"/>
              </a:lnSpc>
              <a:buNone/>
            </a:pPr>
            <a:r>
              <a:rPr lang="en-US" sz="5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AED 855,408</a:t>
            </a:r>
            <a:endParaRPr lang="en-US" sz="500" dirty="0"/>
          </a:p>
        </p:txBody>
      </p:sp>
      <p:sp>
        <p:nvSpPr>
          <p:cNvPr id="10" name="Text 6"/>
          <p:cNvSpPr/>
          <p:nvPr/>
        </p:nvSpPr>
        <p:spPr>
          <a:xfrm>
            <a:off x="5653541" y="1354733"/>
            <a:ext cx="5882929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Findings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8063703" y="2095401"/>
            <a:ext cx="1062507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67.7%</a:t>
            </a:r>
            <a:endParaRPr lang="en-US" sz="1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124" y="1555552"/>
            <a:ext cx="1295764" cy="12957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53541" y="2912269"/>
            <a:ext cx="5882929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Male Customers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5653541" y="3086596"/>
            <a:ext cx="5882929" cy="100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AED 579,457</a:t>
            </a:r>
            <a:pPr algn="ctr" indent="0" marL="0">
              <a:lnSpc>
                <a:spcPct val="97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dominant revenue segment</a:t>
            </a:r>
            <a:endParaRPr lang="en-US" sz="650" dirty="0"/>
          </a:p>
        </p:txBody>
      </p:sp>
      <p:sp>
        <p:nvSpPr>
          <p:cNvPr id="15" name="Text 10"/>
          <p:cNvSpPr/>
          <p:nvPr/>
        </p:nvSpPr>
        <p:spPr>
          <a:xfrm>
            <a:off x="8063703" y="3827562"/>
            <a:ext cx="1062507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32.3%</a:t>
            </a:r>
            <a:endParaRPr lang="en-US" sz="1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7124" y="3287713"/>
            <a:ext cx="1295764" cy="129579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53541" y="4644430"/>
            <a:ext cx="5882929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Female Customers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5653541" y="4818757"/>
            <a:ext cx="5882929" cy="100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AED 275,951</a:t>
            </a:r>
            <a:pPr algn="ctr" indent="0" marL="0">
              <a:lnSpc>
                <a:spcPct val="97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significant growth opportunity</a:t>
            </a:r>
            <a:endParaRPr lang="en-US" sz="650" dirty="0"/>
          </a:p>
        </p:txBody>
      </p:sp>
      <p:sp>
        <p:nvSpPr>
          <p:cNvPr id="19" name="Text 13"/>
          <p:cNvSpPr/>
          <p:nvPr/>
        </p:nvSpPr>
        <p:spPr>
          <a:xfrm>
            <a:off x="5653541" y="4963815"/>
            <a:ext cx="6492514" cy="100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customers generate </a:t>
            </a:r>
            <a:pPr algn="l" indent="0" marL="0">
              <a:lnSpc>
                <a:spcPct val="97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2.1× more revenue</a:t>
            </a:r>
            <a:pPr algn="l" indent="0" marL="0">
              <a:lnSpc>
                <a:spcPct val="97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than female customers, revealing a major untapped opportunity to grow the female segment.</a:t>
            </a:r>
            <a:endParaRPr lang="en-US" sz="650" dirty="0"/>
          </a:p>
        </p:txBody>
      </p:sp>
      <p:sp>
        <p:nvSpPr>
          <p:cNvPr id="20" name="Text 14"/>
          <p:cNvSpPr/>
          <p:nvPr/>
        </p:nvSpPr>
        <p:spPr>
          <a:xfrm>
            <a:off x="661475" y="5159177"/>
            <a:ext cx="10868745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Recommended Engagement Strategies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661475" y="5353248"/>
            <a:ext cx="5414629" cy="444599"/>
          </a:xfrm>
          <a:prstGeom prst="roundRect">
            <a:avLst>
              <a:gd name="adj" fmla="val 816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54143" y="5445919"/>
            <a:ext cx="5229293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Targeted Campaigns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754143" y="5604470"/>
            <a:ext cx="5229293" cy="100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female-focused promotions and personalized offers based on purchase history.</a:t>
            </a:r>
            <a:endParaRPr lang="en-US" sz="650" dirty="0"/>
          </a:p>
        </p:txBody>
      </p:sp>
      <p:sp>
        <p:nvSpPr>
          <p:cNvPr id="24" name="Shape 18"/>
          <p:cNvSpPr/>
          <p:nvPr/>
        </p:nvSpPr>
        <p:spPr>
          <a:xfrm>
            <a:off x="6115492" y="5353248"/>
            <a:ext cx="5414728" cy="444599"/>
          </a:xfrm>
          <a:prstGeom prst="roundRect">
            <a:avLst>
              <a:gd name="adj" fmla="val 816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208160" y="5445919"/>
            <a:ext cx="5229392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💬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Loyalty Programs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6208160" y="5604470"/>
            <a:ext cx="5229392" cy="100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rewards and membership tiers tailored to female shopping preferences.</a:t>
            </a:r>
            <a:endParaRPr lang="en-US" sz="650" dirty="0"/>
          </a:p>
        </p:txBody>
      </p:sp>
      <p:sp>
        <p:nvSpPr>
          <p:cNvPr id="27" name="Shape 21"/>
          <p:cNvSpPr/>
          <p:nvPr/>
        </p:nvSpPr>
        <p:spPr>
          <a:xfrm>
            <a:off x="661475" y="5837238"/>
            <a:ext cx="5414629" cy="444599"/>
          </a:xfrm>
          <a:prstGeom prst="roundRect">
            <a:avLst>
              <a:gd name="adj" fmla="val 816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54143" y="5929908"/>
            <a:ext cx="5229293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Product Expansion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754143" y="6088459"/>
            <a:ext cx="5229293" cy="100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Stock and promote categories with higher female affinity to drive conversion.</a:t>
            </a:r>
            <a:endParaRPr lang="en-US" sz="650" dirty="0"/>
          </a:p>
        </p:txBody>
      </p:sp>
      <p:sp>
        <p:nvSpPr>
          <p:cNvPr id="30" name="Shape 24"/>
          <p:cNvSpPr/>
          <p:nvPr/>
        </p:nvSpPr>
        <p:spPr>
          <a:xfrm>
            <a:off x="6115492" y="5837238"/>
            <a:ext cx="5414728" cy="444599"/>
          </a:xfrm>
          <a:prstGeom prst="roundRect">
            <a:avLst>
              <a:gd name="adj" fmla="val 816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208160" y="5929908"/>
            <a:ext cx="5229392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Track Progress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6208160" y="6088459"/>
            <a:ext cx="5229392" cy="100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female revenue share quarterly to measure the impact of engagement efforts.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06239"/>
            <a:ext cx="672587" cy="186630"/>
          </a:xfrm>
          <a:prstGeom prst="roundRect">
            <a:avLst>
              <a:gd name="adj" fmla="val 22119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35093" y="743049"/>
            <a:ext cx="1134935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924719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Subscription Strategy Impact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61475" y="1428452"/>
            <a:ext cx="10868745" cy="375047"/>
          </a:xfrm>
          <a:prstGeom prst="roundRect">
            <a:avLst>
              <a:gd name="adj" fmla="val 13759"/>
            </a:avLst>
          </a:prstGeom>
          <a:solidFill>
            <a:srgbClr val="FCF2B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305" y="1545630"/>
            <a:ext cx="153488" cy="1228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0622" y="1538883"/>
            <a:ext cx="1095635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Business Question: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Are subscriptions driving revenue growth or cannibalizing non-subscriber sales?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61475" y="1973064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Query Results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54845"/>
          <a:ext cx="9143771" cy="914400"/>
        </p:xfrm>
        <a:graphic>
          <a:graphicData uri="http://schemas.openxmlformats.org/drawingml/2006/table">
            <a:tbl>
              <a:tblPr/>
              <a:tblGrid>
                <a:gridCol w="1585367"/>
                <a:gridCol w="1162602"/>
                <a:gridCol w="1268293"/>
                <a:gridCol w="1268293"/>
              </a:tblGrid>
              <a:tr h="27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Segment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Customers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Avg Spend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Total Revenue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</a:tr>
              <a:tr h="2768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Non-Subscribers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2,848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AED 551.20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AED 1.57M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27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Subscribers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1,052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AED 493.80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AED 519K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61475" y="3181449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Findings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463230"/>
            <a:ext cx="5284556" cy="86707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7803" y="3598763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Gap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47803" y="3870523"/>
            <a:ext cx="496269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Non-subscribers generate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3× more total revenue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subscriptions are not yet the growth engine.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410075"/>
            <a:ext cx="5284556" cy="86707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7803" y="4545608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Spend Paradox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847803" y="4817368"/>
            <a:ext cx="496269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Subscribers spend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AED 57 less per transaction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discounts erode value without driving frequency.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356920"/>
            <a:ext cx="5284556" cy="70494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47803" y="5492452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Imbalance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847803" y="5764213"/>
            <a:ext cx="496269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 only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27% penetration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subscription adoption limits the program's revenue contribution.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6252014" y="1973064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252014" y="2254845"/>
            <a:ext cx="2602343" cy="882253"/>
          </a:xfrm>
          <a:prstGeom prst="roundRect">
            <a:avLst>
              <a:gd name="adj" fmla="val 584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381193" y="2384028"/>
            <a:ext cx="234398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Boost Visit Frequency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6381193" y="2655788"/>
            <a:ext cx="2343984" cy="352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Exclusive flash deals for subscribers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Incentivize repeat monthly visits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8934127" y="2254845"/>
            <a:ext cx="2602443" cy="882253"/>
          </a:xfrm>
          <a:prstGeom prst="roundRect">
            <a:avLst>
              <a:gd name="adj" fmla="val 584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9063307" y="2384028"/>
            <a:ext cx="234408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Tiered Plans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9063307" y="2655788"/>
            <a:ext cx="2344084" cy="352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Premium tiers with higher-value perks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Raise average spend per subscriber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6252014" y="3216870"/>
            <a:ext cx="5284556" cy="882253"/>
          </a:xfrm>
          <a:prstGeom prst="roundRect">
            <a:avLst>
              <a:gd name="adj" fmla="val 584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381193" y="3346053"/>
            <a:ext cx="502619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Convert Non-Subscribers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381193" y="3617813"/>
            <a:ext cx="5026197" cy="352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top spenders with trial offers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Personalised onboarding incentives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75457"/>
            <a:ext cx="724477" cy="201116"/>
          </a:xfrm>
          <a:prstGeom prst="roundRect">
            <a:avLst>
              <a:gd name="adj" fmla="val 22105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1315145"/>
            <a:ext cx="1175316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513582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 Performance &amp; Discounting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964035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i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Which products have the highest ratings and discounts, and are discounts optimized?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2402185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5 Products by Rating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713037"/>
          <a:ext cx="9143771" cy="914400"/>
        </p:xfrm>
        <a:graphic>
          <a:graphicData uri="http://schemas.openxmlformats.org/drawingml/2006/table">
            <a:tbl>
              <a:tblPr/>
              <a:tblGrid>
                <a:gridCol w="1318262"/>
                <a:gridCol w="1318262"/>
                <a:gridCol w="1318262"/>
                <a:gridCol w="1318262"/>
              </a:tblGrid>
              <a:tr h="3069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Product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Avg Rating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Discount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Revenue (AED)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</a:tr>
              <a:tr h="310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Hat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4.10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50.00%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28,450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10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Sneakers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4.08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49.66%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34,210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10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T-Shirt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4.05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32.14%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21,890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10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Jacket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4.02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27.80%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45,620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069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Watch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3.98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22.50%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52,310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63523" y="2402185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Insights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63523" y="2713037"/>
            <a:ext cx="2590239" cy="18884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91026" y="2864346"/>
            <a:ext cx="2211431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Over-Discounting Top Products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91026" y="3370263"/>
            <a:ext cx="2211431" cy="1079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Hat (50%) and Sneakers (49.66%) carry the steepest discounts despite being top-rated. Strong ratings signal loyal demand that doesn't require this level of incentive — margins are being eroded unnecessarily.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6331" y="2713037"/>
            <a:ext cx="2590239" cy="18884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73834" y="2864346"/>
            <a:ext cx="2211431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Lower Discounts Drive Higher Revenue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9173834" y="3370263"/>
            <a:ext cx="2211431" cy="899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Watch has the lowest discount (22.5%) yet generates the highest revenue (AED 52,310), demonstrating that reduced discounting can still deliver strong returns.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263523" y="4705648"/>
            <a:ext cx="5273047" cy="772716"/>
          </a:xfrm>
          <a:prstGeom prst="roundRect">
            <a:avLst>
              <a:gd name="adj" fmla="val 7192"/>
            </a:avLst>
          </a:prstGeom>
          <a:solidFill>
            <a:srgbClr val="FCF2B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5778" y="4848820"/>
            <a:ext cx="165294" cy="13225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93328" y="4822031"/>
            <a:ext cx="471098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Recommendation: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Review the discount strategy for Hat and Sneakers. Reducing discounts on these high-rated items could significantly improve profit margins without sacrificing sales volume.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7183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5: Age Group Revenue Distribution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80802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Business Question: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Which age groups are most valuable and where should marketing focus?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512491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by Age Group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794272"/>
          <a:ext cx="9143771" cy="914400"/>
        </p:xfrm>
        <a:graphic>
          <a:graphicData uri="http://schemas.openxmlformats.org/drawingml/2006/table">
            <a:tbl>
              <a:tblPr/>
              <a:tblGrid>
                <a:gridCol w="1321139"/>
                <a:gridCol w="1321139"/>
                <a:gridCol w="1321139"/>
                <a:gridCol w="1321139"/>
              </a:tblGrid>
              <a:tr h="27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Age Group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Transactions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Revenue (AED)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Share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4389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Middle-Aged (31–60)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2,231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489,842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56.9%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4389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Young Adult (18–30)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1,012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221,304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25.7%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2768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Senior (60+)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657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143,561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16.7%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27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Youth (&lt;18)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24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5,483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0.6%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252014" y="1522512"/>
            <a:ext cx="5284556" cy="529233"/>
          </a:xfrm>
          <a:prstGeom prst="roundRect">
            <a:avLst>
              <a:gd name="adj" fmla="val 9750"/>
            </a:avLst>
          </a:prstGeom>
          <a:solidFill>
            <a:srgbClr val="E1E1E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4844" y="1646039"/>
            <a:ext cx="153488" cy="1228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51161" y="1625005"/>
            <a:ext cx="476257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Insight: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Middle-Aged customers (31–60) generate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56.9% of total revenue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making them the most valuable segment by far.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252014" y="2141538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Marketing Recommendations by Segment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2014" y="2423319"/>
            <a:ext cx="5284556" cy="8670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38342" y="2558852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🧑‍💼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Middle-Aged (31–60) — Priority Segment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438342" y="2830612"/>
            <a:ext cx="496269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Double down on loyalty programs, subscription offers, and premium product lines. Personalized email campaigns and exclusive member discounts drive retention.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2014" y="3370163"/>
            <a:ext cx="5284556" cy="8670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38342" y="3505696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🧑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Young Adults (18–30) — Growth Segment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438342" y="3777456"/>
            <a:ext cx="496269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social media advertising, influencer partnerships, and trend-driven collections. Offer first-purchase discounts and referral incentives to grow this base.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2014" y="4317008"/>
            <a:ext cx="5284556" cy="86707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438342" y="4452541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👴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Seniors (60+) — Retention Segment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6438342" y="4724301"/>
            <a:ext cx="496269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Emphasize comfort, quality, and ease of shopping. Target via email and in-store promotions. Highlight value and reliability over trends.</a:t>
            </a:r>
            <a:endParaRPr lang="en-US" sz="9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52014" y="5263852"/>
            <a:ext cx="5284556" cy="86707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438342" y="5399385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🧒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Youth (&lt;18) — Emerging Segment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6438342" y="5671145"/>
            <a:ext cx="496269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Minimal investment for now. Monitor growth and introduce entry-level products. Gift card campaigns and back-to-school promotions can seed future loyalty.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5136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6: Shipping Method &amp; Spending Behavior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820962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Question: Does shipping method choice correlate with higher spending, and should we incentivize express shipping?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2212479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Avg Spend by Shipping Method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94260"/>
            <a:ext cx="3434867" cy="24727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5056783"/>
            <a:ext cx="5284556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Insight: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Express customers spend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3.5% more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average (AED 60.48 vs AED 58.46), suggesting higher buyer intent — though the gap remains modest.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52014" y="2212479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Recommended Strategies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2014" y="2494260"/>
            <a:ext cx="5284556" cy="704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38342" y="2629793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Free Express Threshold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38342" y="2901553"/>
            <a:ext cx="496269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 free express shipping above AED 75 to nudge customers toward larger basket sizes.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2014" y="3278981"/>
            <a:ext cx="5284556" cy="86707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38342" y="3414514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Loyalty Perks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438342" y="3686274"/>
            <a:ext cx="496269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 loyalty members with express upgrades to reinforce a premium experience and drive repeat purchases.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2014" y="4225826"/>
            <a:ext cx="5284556" cy="86707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38342" y="4361359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Checkout Nudges &amp; Promotions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438342" y="4633119"/>
            <a:ext cx="496269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Highlight express benefits at checkout and run flash "Express Deals" to grow adoption among cost-sensitive shoppers.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9287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7: Payment Method Preferences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535113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Which payment methods are most popular and should we optimize checkout for specific methods?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926630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Payment Method Distribution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08411"/>
            <a:ext cx="3434867" cy="24727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52014" y="1926630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Findings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2014" y="2208411"/>
            <a:ext cx="5284556" cy="8670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38342" y="2343944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Remarkably Even Distribution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38342" y="2615704"/>
            <a:ext cx="496269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six methods cluster tightly between 612–677 transactions — no single dominant preference.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2014" y="3155255"/>
            <a:ext cx="5284556" cy="70494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38342" y="3290788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Digital Wallets Lead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438342" y="3562548"/>
            <a:ext cx="496269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PayPal (677)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Venmo (634)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together account for ~32% of transactions.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2014" y="3939977"/>
            <a:ext cx="5284556" cy="70494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38342" y="4075509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Traditional Methods Remain Strong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438342" y="4347270"/>
            <a:ext cx="496269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Credit Card, Cash, and Debit Card collectively represent ~57% of transactions.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6252014" y="4734719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Optimization Recommendations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252014" y="5006479"/>
            <a:ext cx="5284556" cy="70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Streamline all six methods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ensure seamless checkout UX for every payment type.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Promote digital wallets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add PayPal/Venmo express buttons on product and cart pages.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Incentivize bank transfers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offer small discounts or loyalty points to reduce processing fees.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1591"/>
            <a:ext cx="879850" cy="243979"/>
          </a:xfrm>
          <a:prstGeom prst="roundRect">
            <a:avLst>
              <a:gd name="adj" fmla="val 22126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57814" y="709712"/>
            <a:ext cx="1296757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60140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Category Performance &amp; Revenue Optimization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666974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Business Question: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Which product categories generate the most revenue and where should inventory focus?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1475" y="2194818"/>
            <a:ext cx="50132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by Category (AED)</a:t>
            </a:r>
            <a:endParaRPr lang="en-US" sz="1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99432"/>
            <a:ext cx="4261140" cy="31304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1475" y="5883473"/>
            <a:ext cx="5622784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Clothing dominates with </a:t>
            </a:r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104.29K AED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over 4× Outerwear and Footwear combined.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72929" y="2194818"/>
            <a:ext cx="546354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Category-Specific Growth Strategies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2929" y="2599432"/>
            <a:ext cx="2663461" cy="146645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28807" y="2779117"/>
            <a:ext cx="2227901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👗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Clothing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328807" y="3173016"/>
            <a:ext cx="222790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 in inventory depth and variety. Use as flagship in all marketing campaigns.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72911" y="2599432"/>
            <a:ext cx="2663560" cy="146645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28790" y="2779117"/>
            <a:ext cx="2228001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💍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Accessories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9128790" y="3173016"/>
            <a:ext cx="222800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Bundle with Clothing purchases to increase basket size and push revenue higher.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72929" y="4202410"/>
            <a:ext cx="2663461" cy="146645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28807" y="4382095"/>
            <a:ext cx="2227901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🧥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Outerwear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6328807" y="4775994"/>
            <a:ext cx="222790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seasonal promotions and targeted campaigns during peak demand periods.</a:t>
            </a:r>
            <a:endParaRPr lang="en-US" sz="12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72911" y="4202410"/>
            <a:ext cx="2663560" cy="146645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28790" y="4382095"/>
            <a:ext cx="2228001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👟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Footwear</a:t>
            </a:r>
            <a:endParaRPr lang="en-US" sz="1550" dirty="0"/>
          </a:p>
        </p:txBody>
      </p:sp>
      <p:sp>
        <p:nvSpPr>
          <p:cNvPr id="21" name="Text 14"/>
          <p:cNvSpPr/>
          <p:nvPr/>
        </p:nvSpPr>
        <p:spPr>
          <a:xfrm>
            <a:off x="9128790" y="4775994"/>
            <a:ext cx="222800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 SKU range and cross-promote with Clothing to improve visibility.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2026-09-07T09:21:23Z</dcterms:created>
  <dcterms:modified xsi:type="dcterms:W3CDTF">2026-09-07T09:21:23Z</dcterms:modified>
</cp:coreProperties>
</file>